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91440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KindRide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88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D9488"/>
                </a:solidFill>
                <a:latin typeface="Calibri"/>
              </a:rPr>
              <a:t>Ride-sharing built on community, trust, and zero detour.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520440"/>
            <a:ext cx="201168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703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Investor Briefing  ·  Series Seed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Oluwafemi Adebayo  ·  Founder &amp; CEO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6309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2025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9488"/>
                </a:solidFill>
                <a:latin typeface="Calibri"/>
              </a:rPr>
              <a:t>Getting a ride shouldn't require a stranger willing to detour for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KindRide  ·  Confidential  · 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5661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💸  Prohibitively Expensive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984248"/>
            <a:ext cx="3200400" cy="190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75688"/>
            <a:ext cx="31089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Uber/Lyft surge pricing regularly hits 3–5×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Low-income commuters often cannot afford reliable transport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~45% of US adults report skipping trips due to 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1417320"/>
            <a:ext cx="35661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554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🌍  Environmental Waste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07992" y="1984248"/>
            <a:ext cx="3200400" cy="190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2075688"/>
            <a:ext cx="31089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Every ride-hail trip adds a dedicated vehicle to the road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Avg. ride-hail deadhead rate: 40% of miles driven empty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Transport = 29% of US greenhouse gas emissions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47304" y="1417320"/>
            <a:ext cx="35661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4" y="1554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🤝  Broken Trust in Sharing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30184" y="1984248"/>
            <a:ext cx="3200400" cy="190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2075688"/>
            <a:ext cx="31089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Existing platforms commoditise the driver–passenger relationship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Safety incidents erode confidence, especially for women &amp; elderly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No meaningful community layer — just transactions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The Solution — KindRide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9488"/>
                </a:solidFill>
                <a:latin typeface="Calibri"/>
              </a:rPr>
              <a:t>Connecting passengers with drivers already heading their 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KindRide  ·  Confidential  · 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55680" cy="1051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KindRide matches passengers with drivers who are ALREADY travelling in the same direction — no detour, minimal cost, maximum trust.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578608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157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Zero-Detour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145536"/>
            <a:ext cx="2286000" cy="190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36976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Driver is already going your way — adds 0 miles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Fare is a fraction of traditional ride-hail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Carbon footprint: near zero marginal increase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2578608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7157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Community Hubs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3145536"/>
            <a:ext cx="2286000" cy="190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3236976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Campus, hospital, corporate &amp; community networks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Verified members build trust within groups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Email-domain auto-join for institutions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2578608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7157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Safety-First Platform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145536"/>
            <a:ext cx="2286000" cy="190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236976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Live trip recording (privacy-preserving snapshots)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One-tap SOS with emergency contact alerts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ID verification via Stripe Identity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2578608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27157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Kind Points Rewards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145536"/>
            <a:ext cx="2286000" cy="190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3236976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Drivers earn points redeemable for real value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Reputation system rewards safe, kind behaviour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Gamified tiers: Helper → Champion → Legend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9488"/>
                </a:solidFill>
                <a:latin typeface="Calibri"/>
              </a:rPr>
              <a:t>Five steps — from request to reward.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KindRide  ·  Confidential  · 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" cy="9875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371600"/>
            <a:ext cx="105156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43560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Passenger Posts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463040"/>
            <a:ext cx="6400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Opens app, shares destination direction. No scheduling, no waiting rooms.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359152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9488"/>
                </a:solidFill>
                <a:latin typeface="Calibri"/>
              </a:rPr>
              <a:t>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32304"/>
            <a:ext cx="548640" cy="9875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3347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432304"/>
            <a:ext cx="105156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249631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Smart Matching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523744"/>
            <a:ext cx="6400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Algorithm surfaces drivers already headed that way, ranked by proximity, trust score &amp; hub membership.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419856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9488"/>
                </a:solidFill>
                <a:latin typeface="Calibri"/>
              </a:rPr>
              <a:t>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93008"/>
            <a:ext cx="548640" cy="9875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69417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3493008"/>
            <a:ext cx="105156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355701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Driver Accepts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584448"/>
            <a:ext cx="6400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Driver reviews passenger reputation &amp; accepts. Live GPS tracking begins for both parties.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480560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9488"/>
                </a:solidFill>
                <a:latin typeface="Calibri"/>
              </a:rPr>
              <a:t>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53712"/>
            <a:ext cx="548640" cy="9875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754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4553712"/>
            <a:ext cx="105156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46177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Trip Starts Automatically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645152"/>
            <a:ext cx="6400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Proximity detection triggers trip start when driver arrives — no QR codes, no friction.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541264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9488"/>
                </a:solidFill>
                <a:latin typeface="Calibri"/>
              </a:rPr>
              <a:t>▾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614416"/>
            <a:ext cx="548640" cy="9875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815584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7280" y="5614416"/>
            <a:ext cx="105156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567842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Mutual Rating &amp; Points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5705856"/>
            <a:ext cx="6400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Driver earns Kind Points. Both rate each other. Recordings auto-expire unless flagged.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9488"/>
                </a:solidFill>
                <a:latin typeface="Calibri"/>
              </a:rPr>
              <a:t>A $285B global addressable market, underserved by incumbent platforms.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KindRide  ·  Confidential  · 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943600" cy="502920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5212080" cy="4206240"/>
          </a:xfrm>
          <a:prstGeom prst="rect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2194560"/>
            <a:ext cx="4480560" cy="3200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Calibri"/>
              </a:rPr>
              <a:t>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83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766E"/>
                </a:solidFill>
                <a:latin typeface="Calibri"/>
              </a:rPr>
              <a:t>$285B  Global Ride-Hail Market (2024)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2491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$42B  Community &amp; commuter ride-sharing (US + UK)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584448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$1.2B  Year-5 realistic capture
(campus + metro corridors)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1417320"/>
            <a:ext cx="2468880" cy="1325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5544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$8,000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1671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Average annual spend on
private transport per US household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1417320"/>
            <a:ext cx="2468880" cy="1325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15544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680M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21671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Global daily commuters
underserved by public transit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2926080"/>
            <a:ext cx="2468880" cy="1325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30632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23%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6758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CAGR of ride-sharing market
2024–2030 (Statista)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2926080"/>
            <a:ext cx="2468880" cy="1325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30632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4.2×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6758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Higher retention in
trust-based platforms vs transactional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9488"/>
                </a:solidFill>
                <a:latin typeface="Calibri"/>
              </a:rPr>
              <a:t>Multiple monetisation levers — none rely on exploiting drivers.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KindRide  ·  Confidential  · 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28600" cy="1920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81328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Platform Fee
(Primary)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93392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8–12% of suggested trip contribution from passenger.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$$$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228600" cy="1920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481328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Hub Subscriptions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993392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Institutions (universities, hospitals) pay monthly SaaS fee for verified hub access.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$$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371600"/>
            <a:ext cx="228600" cy="1920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1481328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Kind Points Marketplace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1993392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Drivers redeem points via partner discounts; KindRide earns affiliate margin.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$$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47472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474720"/>
            <a:ext cx="228600" cy="1920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584448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Safety Premium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096512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Optional monthly plan: extended recording retention, priority matching, badge.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$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347472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3474720"/>
            <a:ext cx="228600" cy="1920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3584448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Data Insights (B2B)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096512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Anonymised mobility pattern reports sold to urban planners &amp; transit authorities.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$$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347472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3474720"/>
            <a:ext cx="228600" cy="1920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3584448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Voluntary Tips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4096512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Stripe Connect tipping layer; KindRide takes 2.9% processing margin.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$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Traction &amp; Product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9488"/>
                </a:solidFill>
                <a:latin typeface="Calibri"/>
              </a:rPr>
              <a:t>Full-stack product — live, tested, and iterated on real users.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KindRide  ·  Confidential  · 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Core Ride Matching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0" y="1490472"/>
            <a:ext cx="502920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490472"/>
            <a:ext cx="5029200" cy="228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61320" y="1444752"/>
            <a:ext cx="118872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61320" y="145389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9280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Live GPS Tracking (Driver → Passenger)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1965960"/>
            <a:ext cx="502920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0" y="1965960"/>
            <a:ext cx="5029200" cy="228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61320" y="1920240"/>
            <a:ext cx="118872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61320" y="192938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36829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Community Hubs + Domain Allow-list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2441448"/>
            <a:ext cx="502920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0" y="2441448"/>
            <a:ext cx="5029200" cy="228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561320" y="2395728"/>
            <a:ext cx="118872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61320" y="240487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84378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Safety Recording (Privacy-Preserving)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0" y="2916936"/>
            <a:ext cx="502920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03520" y="2916936"/>
            <a:ext cx="5029200" cy="228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561320" y="2871216"/>
            <a:ext cx="118872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61320" y="28803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3192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SOS + Emergency Alerts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0" y="3392424"/>
            <a:ext cx="502920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03520" y="3392424"/>
            <a:ext cx="5029200" cy="228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561320" y="3346704"/>
            <a:ext cx="118872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61320" y="33558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79476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Kind Points + Reputation System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0" y="3867912"/>
            <a:ext cx="502920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03520" y="3867912"/>
            <a:ext cx="5029200" cy="228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561320" y="3822192"/>
            <a:ext cx="118872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61320" y="383133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27024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Trip Chat (Real-time)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03520" y="4343400"/>
            <a:ext cx="502920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303520" y="4343400"/>
            <a:ext cx="5029200" cy="228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61320" y="4297680"/>
            <a:ext cx="118872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61320" y="430682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74573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Identity Verification (Stripe)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0" y="4818888"/>
            <a:ext cx="502920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03520" y="4818888"/>
            <a:ext cx="377190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561320" y="4773168"/>
            <a:ext cx="118872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61320" y="478231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Beta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22122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Stripe Tipping / Payments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03520" y="5294376"/>
            <a:ext cx="502920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303520" y="5294376"/>
            <a:ext cx="301752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561320" y="5248656"/>
            <a:ext cx="1188720" cy="2926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61320" y="525780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69671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Multi-leg Journey Handoffs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03520" y="5769864"/>
            <a:ext cx="502920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03520" y="5769864"/>
            <a:ext cx="427482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561320" y="5724144"/>
            <a:ext cx="118872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61320" y="573328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Beta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Technology &amp;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9488"/>
                </a:solidFill>
                <a:latin typeface="Calibri"/>
              </a:rPr>
              <a:t>Cloud-native, serverless-ready stack built to handle 10× growth without re-architecting.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KindRide  ·  Confidential  · 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7432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Mobile 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38528"/>
            <a:ext cx="2377440" cy="190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29968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React Native (Expo) — single codebase, iOS + Android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Expo Router file-based navigation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Real-time Supabase subscriptions for GPS &amp; chat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Offline-resilient with local state fallback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371600"/>
            <a:ext cx="27432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5087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Backend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1938528"/>
            <a:ext cx="2377440" cy="190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029968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FastAPI (Python) on Render — auto-scales horizontally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Supabase PostgREST for low-latency data ops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JWT-verified endpoints, Row Level Security on all tables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Structured logging + ride lifecycle observability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371600"/>
            <a:ext cx="27432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5087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Infrastructure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938528"/>
            <a:ext cx="2377440" cy="190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029968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Supabase (PostgreSQL + Realtime + Storage)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Expo Push Notifications — no APNS/FCM dependency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Stripe Identity + Connect for KYC &amp; tipping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Zero-trust: service role key never leaves backend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1371600"/>
            <a:ext cx="27432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5087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Scale Path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1938528"/>
            <a:ext cx="2377440" cy="190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2029968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Matching engine stateless → shardable by geography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PostgIS geospatial queries already in schema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Hub model enables viral city-by-city expansion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Supabase edge functions for sub-50ms matching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9488"/>
                </a:solidFill>
                <a:latin typeface="Calibri"/>
              </a:rPr>
              <a:t>KindRide occupies a defensible white space no incumbent owns.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KindRide  ·  Confidential  · 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10312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630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371600"/>
            <a:ext cx="210312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14630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Uber / Lyft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371600"/>
            <a:ext cx="210312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4630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BlaBlaCar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1371600"/>
            <a:ext cx="210312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4630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Waze Carpool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0" y="1371600"/>
            <a:ext cx="2103120" cy="4754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3960" y="14630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KindRide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847088"/>
            <a:ext cx="2103120" cy="475488"/>
          </a:xfrm>
          <a:prstGeom prst="rect">
            <a:avLst/>
          </a:prstGeom>
          <a:solidFill>
            <a:srgbClr val="F8FA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19385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  <a:latin typeface="Calibri"/>
              </a:rPr>
              <a:t>Zero-Detour 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1847088"/>
            <a:ext cx="2103120" cy="475488"/>
          </a:xfrm>
          <a:prstGeom prst="rect">
            <a:avLst/>
          </a:prstGeom>
          <a:solidFill>
            <a:srgbClr val="F8FA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19385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847088"/>
            <a:ext cx="2103120" cy="475488"/>
          </a:xfrm>
          <a:prstGeom prst="rect">
            <a:avLst/>
          </a:prstGeom>
          <a:solidFill>
            <a:srgbClr val="F8FA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19385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  <a:latin typeface="Calibri"/>
              </a:rPr>
              <a:t>Partial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1847088"/>
            <a:ext cx="2103120" cy="475488"/>
          </a:xfrm>
          <a:prstGeom prst="rect">
            <a:avLst/>
          </a:prstGeom>
          <a:solidFill>
            <a:srgbClr val="F8FA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19385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  <a:latin typeface="Calibri"/>
              </a:rPr>
              <a:t>Partial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1847088"/>
            <a:ext cx="2103120" cy="475488"/>
          </a:xfrm>
          <a:prstGeom prst="rect">
            <a:avLst/>
          </a:prstGeom>
          <a:solidFill>
            <a:srgbClr val="CCFBF1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19385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Calibri"/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322576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24140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  <a:latin typeface="Calibri"/>
              </a:rPr>
              <a:t>Community Hub Verified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8880" y="2322576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14600" y="24140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2322576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24140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2322576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24140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240" y="2322576"/>
            <a:ext cx="2103120" cy="475488"/>
          </a:xfrm>
          <a:prstGeom prst="rect">
            <a:avLst/>
          </a:prstGeom>
          <a:solidFill>
            <a:srgbClr val="CCFBF1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23960" y="24140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Calibri"/>
              </a:rPr>
              <a:t>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798064"/>
            <a:ext cx="2103120" cy="475488"/>
          </a:xfrm>
          <a:prstGeom prst="rect">
            <a:avLst/>
          </a:prstGeom>
          <a:solidFill>
            <a:srgbClr val="F8FA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288950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  <a:latin typeface="Calibri"/>
              </a:rPr>
              <a:t>Live GPS + Safety Rec.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68880" y="2798064"/>
            <a:ext cx="2103120" cy="475488"/>
          </a:xfrm>
          <a:prstGeom prst="rect">
            <a:avLst/>
          </a:prstGeom>
          <a:solidFill>
            <a:srgbClr val="F8FA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14600" y="288950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2798064"/>
            <a:ext cx="2103120" cy="475488"/>
          </a:xfrm>
          <a:prstGeom prst="rect">
            <a:avLst/>
          </a:prstGeom>
          <a:solidFill>
            <a:srgbClr val="F8FA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17720" y="288950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2798064"/>
            <a:ext cx="2103120" cy="475488"/>
          </a:xfrm>
          <a:prstGeom prst="rect">
            <a:avLst/>
          </a:prstGeom>
          <a:solidFill>
            <a:srgbClr val="F8FA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20840" y="288950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2798064"/>
            <a:ext cx="2103120" cy="475488"/>
          </a:xfrm>
          <a:prstGeom prst="rect">
            <a:avLst/>
          </a:prstGeom>
          <a:solidFill>
            <a:srgbClr val="CCFBF1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23960" y="288950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Calibri"/>
              </a:rP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273552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33649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  <a:latin typeface="Calibri"/>
              </a:rPr>
              <a:t>Non-monetary Driver Reward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68880" y="3273552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14600" y="33649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0" y="3273552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17720" y="33649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75120" y="3273552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20840" y="33649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778240" y="3273552"/>
            <a:ext cx="2103120" cy="475488"/>
          </a:xfrm>
          <a:prstGeom prst="rect">
            <a:avLst/>
          </a:prstGeom>
          <a:solidFill>
            <a:srgbClr val="CCFBF1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23960" y="33649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Calibri"/>
              </a:rPr>
              <a:t>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3749040"/>
            <a:ext cx="2103120" cy="475488"/>
          </a:xfrm>
          <a:prstGeom prst="rect">
            <a:avLst/>
          </a:prstGeom>
          <a:solidFill>
            <a:srgbClr val="F8FA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3840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  <a:latin typeface="Calibri"/>
              </a:rPr>
              <a:t>Multi-leg Journey Support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468880" y="3749040"/>
            <a:ext cx="2103120" cy="475488"/>
          </a:xfrm>
          <a:prstGeom prst="rect">
            <a:avLst/>
          </a:prstGeom>
          <a:solidFill>
            <a:srgbClr val="F8FA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14600" y="3840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0" y="3749040"/>
            <a:ext cx="2103120" cy="475488"/>
          </a:xfrm>
          <a:prstGeom prst="rect">
            <a:avLst/>
          </a:prstGeom>
          <a:solidFill>
            <a:srgbClr val="F8FA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17720" y="3840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75120" y="3749040"/>
            <a:ext cx="2103120" cy="475488"/>
          </a:xfrm>
          <a:prstGeom prst="rect">
            <a:avLst/>
          </a:prstGeom>
          <a:solidFill>
            <a:srgbClr val="F8FA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20840" y="3840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778240" y="3749040"/>
            <a:ext cx="2103120" cy="475488"/>
          </a:xfrm>
          <a:prstGeom prst="rect">
            <a:avLst/>
          </a:prstGeom>
          <a:solidFill>
            <a:srgbClr val="CCFBF1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823960" y="3840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Calibri"/>
              </a:rPr>
              <a:t>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4224528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43159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  <a:latin typeface="Calibri"/>
              </a:rPr>
              <a:t>Real-time Trip Chat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468880" y="4224528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514600" y="43159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0" y="4224528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17720" y="43159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75120" y="4224528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720840" y="43159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778240" y="4224528"/>
            <a:ext cx="2103120" cy="475488"/>
          </a:xfrm>
          <a:prstGeom prst="rect">
            <a:avLst/>
          </a:prstGeom>
          <a:solidFill>
            <a:srgbClr val="CCFBF1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823960" y="43159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Calibri"/>
              </a:rPr>
              <a:t>✓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4700016"/>
            <a:ext cx="2103120" cy="475488"/>
          </a:xfrm>
          <a:prstGeom prst="rect">
            <a:avLst/>
          </a:prstGeom>
          <a:solidFill>
            <a:srgbClr val="F8FA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47914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  <a:latin typeface="Calibri"/>
              </a:rPr>
              <a:t>Avg. Passenger Cost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468880" y="4700016"/>
            <a:ext cx="2103120" cy="475488"/>
          </a:xfrm>
          <a:prstGeom prst="rect">
            <a:avLst/>
          </a:prstGeom>
          <a:solidFill>
            <a:srgbClr val="F8FA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514600" y="47914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  <a:latin typeface="Calibri"/>
              </a:rPr>
              <a:t>High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0" y="4700016"/>
            <a:ext cx="2103120" cy="475488"/>
          </a:xfrm>
          <a:prstGeom prst="rect">
            <a:avLst/>
          </a:prstGeom>
          <a:solidFill>
            <a:srgbClr val="F8FA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617720" y="47914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  <a:latin typeface="Calibri"/>
              </a:rPr>
              <a:t>Low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675120" y="4700016"/>
            <a:ext cx="2103120" cy="475488"/>
          </a:xfrm>
          <a:prstGeom prst="rect">
            <a:avLst/>
          </a:prstGeom>
          <a:solidFill>
            <a:srgbClr val="F8FA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720840" y="47914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  <a:latin typeface="Calibri"/>
              </a:rPr>
              <a:t>Low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778240" y="4700016"/>
            <a:ext cx="2103120" cy="475488"/>
          </a:xfrm>
          <a:prstGeom prst="rect">
            <a:avLst/>
          </a:prstGeom>
          <a:solidFill>
            <a:srgbClr val="CCFBF1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823960" y="47914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  <a:latin typeface="Calibri"/>
              </a:rPr>
              <a:t>Very Low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5760" y="5175504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11480" y="526694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  <a:latin typeface="Calibri"/>
              </a:rPr>
              <a:t>Driver Carbon Impact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468880" y="5175504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514600" y="526694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  <a:latin typeface="Calibri"/>
              </a:rPr>
              <a:t>High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572000" y="5175504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617720" y="526694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  <a:latin typeface="Calibri"/>
              </a:rPr>
              <a:t>Low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675120" y="5175504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720840" y="526694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  <a:latin typeface="Calibri"/>
              </a:rPr>
              <a:t>Low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778240" y="5175504"/>
            <a:ext cx="2103120" cy="475488"/>
          </a:xfrm>
          <a:prstGeom prst="rect">
            <a:avLst/>
          </a:prstGeom>
          <a:solidFill>
            <a:srgbClr val="CCFBF1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823960" y="526694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  <a:latin typeface="Calibri"/>
              </a:rPr>
              <a:t>Near Zero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Challenges &amp; How We Address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9488"/>
                </a:solidFill>
                <a:latin typeface="Calibri"/>
              </a:rPr>
              <a:t>We have identified every material risk and built mitigations into the product.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KindRide  ·  Confidential  · 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5778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74320" cy="2331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🐔 Cold-Start / Chicken-and-Egg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470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The classic two-sided marketplace problem.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5074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✓  Hub-first launch strategy seeds both sides simultaneously within closed communities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✓  Campus &amp; corporate pilots provide captive supply AND demand from day one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✓  Founding Driver programme with permanent badge locks in early supply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55778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274320" cy="2331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4630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⚖️ Regulatory &amp; Insurance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8470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Ride-sharing regulation varies by jurisdiction.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148840"/>
            <a:ext cx="5074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✓  Zero-detour model positions KindRide as 'ridesharing' not 'for-hire transport' in most jurisdictions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✓  Driver insurance declaration captured at onboarding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✓  Legal review budgeted in seed round; advisory board includes transport law expertise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86200"/>
            <a:ext cx="55778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886200"/>
            <a:ext cx="274320" cy="2331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776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🔒 Safety &amp; Trust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616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Single safety incident can destroy brand.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663440"/>
            <a:ext cx="5074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✓  Privacy-preserving periodic recordings (not continuous) with 72h auto-expiry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✓  Stripe Identity KYC + community hub verification creates layered trust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✓  SOS one-tap emergency alert with SMS to named contacts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886200"/>
            <a:ext cx="55778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886200"/>
            <a:ext cx="274320" cy="2331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9776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📈 Retention &amp; Habit 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3616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Users default to Uber when KindRide supply is thin.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663440"/>
            <a:ext cx="5074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✓  Kind Points create genuine switching cost and habit loop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✓  Push notifications on driver match prevent app abandonment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✓  Multi-leg journey feature makes KindRide sticky for daily commuters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Go-to-Market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9488"/>
                </a:solidFill>
                <a:latin typeface="Calibri"/>
              </a:rPr>
              <a:t>Hub-first expansion: own a community, own a corridor.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KindRide  ·  Confidential  · 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657600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8988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1
Q3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1508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57400"/>
            <a:ext cx="365760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Pilot Hubs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24328"/>
            <a:ext cx="3291840" cy="190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715768"/>
            <a:ext cx="32004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3 university campuses (target: 500 rides/month each)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2 hospital networks (staff commute corridors)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Recruit 50 Founding Drivers per hub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NPS and safety incident baseline established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657600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38988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2
Q1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1508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057400"/>
            <a:ext cx="365760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1945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City Corridors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2624328"/>
            <a:ext cx="3291840" cy="190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2715768"/>
            <a:ext cx="32004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Expand to commuter corridors in 3 metro areas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Corporate hub B2B sales motion launched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App Store featuring via safety &amp; sustainability angle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PR: 'The anti-Uber' positioning in mainstream media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371600"/>
            <a:ext cx="3657600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38988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3
Q3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2057400"/>
            <a:ext cx="365760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21945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Platform Scale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2624328"/>
            <a:ext cx="3291840" cy="190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2715768"/>
            <a:ext cx="32004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API open to third-party hub operators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International expansion: UK, Canada (regulatory-light)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Kind Points marketplace with 10+ redemption partners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334155"/>
                </a:solidFill>
                <a:latin typeface="Calibri"/>
              </a:rPr>
              <a:t>• Series A raise supported by unit economics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Financial Projections &amp; Use of Funds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9488"/>
                </a:solidFill>
                <a:latin typeface="Calibri"/>
              </a:rPr>
              <a:t>Seed ask: $750K. Path to profitability by Month 24.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KindRide  ·  Confidential  · 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19456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4475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371600"/>
            <a:ext cx="219456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44475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Year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371600"/>
            <a:ext cx="219456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44475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Year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1371600"/>
            <a:ext cx="219456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144475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Year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810512"/>
            <a:ext cx="2194560" cy="438912"/>
          </a:xfrm>
          <a:prstGeom prst="rect">
            <a:avLst/>
          </a:prstGeom>
          <a:solidFill>
            <a:srgbClr val="E2E8F0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188366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Active Hubs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1810512"/>
            <a:ext cx="2194560" cy="438912"/>
          </a:xfrm>
          <a:prstGeom prst="rect">
            <a:avLst/>
          </a:prstGeom>
          <a:solidFill>
            <a:srgbClr val="F8FA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06040" y="188366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9488"/>
                </a:solidFill>
                <a:latin typeface="Calibri"/>
              </a:rPr>
              <a:t>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1810512"/>
            <a:ext cx="2194560" cy="438912"/>
          </a:xfrm>
          <a:prstGeom prst="rect">
            <a:avLst/>
          </a:prstGeom>
          <a:solidFill>
            <a:srgbClr val="F8FA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188366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9488"/>
                </a:solidFill>
                <a:latin typeface="Calibri"/>
              </a:rPr>
              <a:t>28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0" y="1810512"/>
            <a:ext cx="2194560" cy="438912"/>
          </a:xfrm>
          <a:prstGeom prst="rect">
            <a:avLst/>
          </a:prstGeom>
          <a:solidFill>
            <a:srgbClr val="F8FA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188366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9488"/>
                </a:solidFill>
                <a:latin typeface="Calibri"/>
              </a:rPr>
              <a:t>90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249424"/>
            <a:ext cx="2194560" cy="438912"/>
          </a:xfrm>
          <a:prstGeom prst="rect">
            <a:avLst/>
          </a:prstGeom>
          <a:solidFill>
            <a:srgbClr val="E2E8F0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32257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Monthly Active Users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249424"/>
            <a:ext cx="21945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06040" y="232257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9488"/>
                </a:solidFill>
                <a:latin typeface="Calibri"/>
              </a:rPr>
              <a:t>2,400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2249424"/>
            <a:ext cx="21945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232257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9488"/>
                </a:solidFill>
                <a:latin typeface="Calibri"/>
              </a:rPr>
              <a:t>18,000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2249424"/>
            <a:ext cx="21945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60" y="232257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9488"/>
                </a:solidFill>
                <a:latin typeface="Calibri"/>
              </a:rPr>
              <a:t>85,000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688336"/>
            <a:ext cx="2194560" cy="438912"/>
          </a:xfrm>
          <a:prstGeom prst="rect">
            <a:avLst/>
          </a:prstGeom>
          <a:solidFill>
            <a:srgbClr val="E2E8F0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276148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Monthly Rides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2688336"/>
            <a:ext cx="2194560" cy="438912"/>
          </a:xfrm>
          <a:prstGeom prst="rect">
            <a:avLst/>
          </a:prstGeom>
          <a:solidFill>
            <a:srgbClr val="F8FA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06040" y="276148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9488"/>
                </a:solidFill>
                <a:latin typeface="Calibri"/>
              </a:rPr>
              <a:t>8,000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2688336"/>
            <a:ext cx="2194560" cy="438912"/>
          </a:xfrm>
          <a:prstGeom prst="rect">
            <a:avLst/>
          </a:prstGeom>
          <a:solidFill>
            <a:srgbClr val="F8FA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600" y="276148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9488"/>
                </a:solidFill>
                <a:latin typeface="Calibri"/>
              </a:rPr>
              <a:t>65,000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49440" y="2688336"/>
            <a:ext cx="2194560" cy="438912"/>
          </a:xfrm>
          <a:prstGeom prst="rect">
            <a:avLst/>
          </a:prstGeom>
          <a:solidFill>
            <a:srgbClr val="F8FA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95160" y="276148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9488"/>
                </a:solidFill>
                <a:latin typeface="Calibri"/>
              </a:rPr>
              <a:t>340,000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127248"/>
            <a:ext cx="2194560" cy="438912"/>
          </a:xfrm>
          <a:prstGeom prst="rect">
            <a:avLst/>
          </a:prstGeom>
          <a:solidFill>
            <a:srgbClr val="E2E8F0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320040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Gross Revenue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0" y="3127248"/>
            <a:ext cx="21945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06040" y="320040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9488"/>
                </a:solidFill>
                <a:latin typeface="Calibri"/>
              </a:rPr>
              <a:t>$96K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80" y="3127248"/>
            <a:ext cx="21945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00600" y="320040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9488"/>
                </a:solidFill>
                <a:latin typeface="Calibri"/>
              </a:rPr>
              <a:t>$1.04M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49440" y="3127248"/>
            <a:ext cx="21945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5160" y="320040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9488"/>
                </a:solidFill>
                <a:latin typeface="Calibri"/>
              </a:rPr>
              <a:t>$6.1M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566160"/>
            <a:ext cx="2194560" cy="438912"/>
          </a:xfrm>
          <a:prstGeom prst="rect">
            <a:avLst/>
          </a:prstGeom>
          <a:solidFill>
            <a:srgbClr val="E2E8F0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363931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Gross Margin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0320" y="3566160"/>
            <a:ext cx="2194560" cy="438912"/>
          </a:xfrm>
          <a:prstGeom prst="rect">
            <a:avLst/>
          </a:prstGeom>
          <a:solidFill>
            <a:srgbClr val="F8FA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06040" y="363931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9488"/>
                </a:solidFill>
                <a:latin typeface="Calibri"/>
              </a:rPr>
              <a:t>62%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54880" y="3566160"/>
            <a:ext cx="2194560" cy="438912"/>
          </a:xfrm>
          <a:prstGeom prst="rect">
            <a:avLst/>
          </a:prstGeom>
          <a:solidFill>
            <a:srgbClr val="F8FA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00600" y="363931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9488"/>
                </a:solidFill>
                <a:latin typeface="Calibri"/>
              </a:rPr>
              <a:t>68%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49440" y="3566160"/>
            <a:ext cx="2194560" cy="438912"/>
          </a:xfrm>
          <a:prstGeom prst="rect">
            <a:avLst/>
          </a:prstGeom>
          <a:solidFill>
            <a:srgbClr val="F8FA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95160" y="363931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9488"/>
                </a:solidFill>
                <a:latin typeface="Calibri"/>
              </a:rPr>
              <a:t>74%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005072"/>
            <a:ext cx="2194560" cy="438912"/>
          </a:xfrm>
          <a:prstGeom prst="rect">
            <a:avLst/>
          </a:prstGeom>
          <a:solidFill>
            <a:srgbClr val="E2E8F0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07822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EBITDA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60320" y="4005072"/>
            <a:ext cx="21945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06040" y="407822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C2626"/>
                </a:solidFill>
                <a:latin typeface="Calibri"/>
              </a:rPr>
              <a:t>($480K)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54880" y="4005072"/>
            <a:ext cx="21945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00600" y="407822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C2626"/>
                </a:solidFill>
                <a:latin typeface="Calibri"/>
              </a:rPr>
              <a:t>($120K)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49440" y="4005072"/>
            <a:ext cx="21945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95160" y="407822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9488"/>
                </a:solidFill>
                <a:latin typeface="Calibri"/>
              </a:rPr>
              <a:t>$1.4M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0" y="141732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Use of Seed Funds  ($750,000)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0" y="19202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Engineering &amp; Product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44000" y="2267712"/>
            <a:ext cx="219456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144000" y="2267712"/>
            <a:ext cx="768096" cy="228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430000" y="225856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35%  $262K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0" y="26700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Growth &amp; Hub Acquisition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144000" y="3017520"/>
            <a:ext cx="219456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0" y="3017520"/>
            <a:ext cx="548640" cy="228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430000" y="300837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25%  $187K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4000" y="341985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Safety &amp; Legal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144000" y="3767328"/>
            <a:ext cx="219456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144000" y="3767328"/>
            <a:ext cx="329184" cy="228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430000" y="375818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15%  $112K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44000" y="416966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Operations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144000" y="4517136"/>
            <a:ext cx="219456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144000" y="4517136"/>
            <a:ext cx="329184" cy="228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430000" y="45079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15%  $112K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144000" y="49194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Reserve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00" y="5266944"/>
            <a:ext cx="219456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144000" y="5266944"/>
            <a:ext cx="219456" cy="228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430000" y="5257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10%  $75K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9488"/>
                </a:solidFill>
                <a:latin typeface="Calibri"/>
              </a:rPr>
              <a:t>Mission-driven builders with skin in the game.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KindRide  ·  Confidential  · 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30352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20040" cy="2926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"/>
              </a:rPr>
              <a:t>Oluwafemi Adebayo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Calibri"/>
              </a:rPr>
              <a:t>Founder &amp; 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Built the full KindRide platform end-to-end (mobile + backend + infra)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Deep expertise: React Native, FastAPI, Supabase, AWS, AI/ML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Identified the zero-detour gap from lived experience of unreliable transport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Completed AWS Training certification programme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54864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Advisory &amp; Hiring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574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🎯  Head of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20574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Hub BD + campus partnerships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780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⚖️  Transport Law Advisor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247802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Regulatory strategy (US + UK)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8986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📱  Senior Mobile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89864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iOS optimisation + offline-first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3192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🤝  Community Manager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33192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Driver onboarding + retention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3989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💳  Payments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373989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Stripe integration + financial compliance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434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* Seed funding enables first 3 hires within 90 days of close.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17720"/>
            <a:ext cx="11247120" cy="169164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617720"/>
            <a:ext cx="182880" cy="1691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709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Why a solo technical founder is a strength at this stage: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1206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The entire product exists and functions in production. Zero agency fees, zero miscommunication, full IP ownership. The seed round funds growth and team — not product discovery. Every dollar invested goes to users, not building something that already exists.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The 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08760"/>
            <a:ext cx="96012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9488"/>
                </a:solidFill>
                <a:latin typeface="Calibri"/>
              </a:rPr>
              <a:t>We are raising $750,000 in a Seed round.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331720"/>
            <a:ext cx="1371600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414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 months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2331720"/>
            <a:ext cx="896112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2468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Live pilots in 6 hubs. 2,400 MAU. 8,000 monthly rides. Safety record established.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371600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3101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12 months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3200400"/>
            <a:ext cx="896112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33375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Series A metrics in sight: $1M ARR run-rate, 28 hubs, product-market fit proven.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069080"/>
            <a:ext cx="1371600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1788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18 months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4069080"/>
            <a:ext cx="896112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420624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Profitable unit economics per hub. Expansion playbook documented. Team of 8.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074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KindRide is not just a better ride-hailing app.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321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It is a trust infrastructure for human mobility — the first platform to align the incentives of drivers, passengers, communities, and the planet.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6309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9488"/>
                </a:solidFill>
                <a:latin typeface="Calibri"/>
              </a:rPr>
              <a:t>mcfemy@gmail.com  ·  kindride.app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